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89939705384-5185137a7f0f" ContentType="image/photo-1589939705384-5185137a7f0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Referral-Only (Current)</c:v>
                </c:pt>
              </c:strCache>
            </c:strRef>
          </c:tx>
          <c:spPr>
            <a:solidFill>
              <a:srgbClr val="546472"/>
            </a:solidFill>
            <a:ln w="38100" cap="flat">
              <a:solidFill>
                <a:srgbClr val="5464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46472"/>
              </a:solidFill>
              <a:ln w="9525" cap="flat">
                <a:solidFill>
                  <a:srgbClr val="5464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Now</c:v>
                  </c:pt>
                  <c:pt idx="1">
                    <c:v>Month 2</c:v>
                  </c:pt>
                  <c:pt idx="2">
                    <c:v>Month 4</c:v>
                  </c:pt>
                  <c:pt idx="3">
                    <c:v>Month 6</c:v>
                  </c:pt>
                  <c:pt idx="4">
                    <c:v>Month 9</c:v>
                  </c:pt>
                  <c:pt idx="5">
                    <c:v>Month 12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Stenth System</c:v>
                </c:pt>
              </c:strCache>
            </c:strRef>
          </c:tx>
          <c:spPr>
            <a:solidFill>
              <a:srgbClr val="C9A449"/>
            </a:solidFill>
            <a:ln w="38100" cap="flat">
              <a:solidFill>
                <a:srgbClr val="C9A4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A449"/>
              </a:solidFill>
              <a:ln w="9525" cap="flat">
                <a:solidFill>
                  <a:srgbClr val="C9A4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Now</c:v>
                  </c:pt>
                  <c:pt idx="1">
                    <c:v>Month 2</c:v>
                  </c:pt>
                  <c:pt idx="2">
                    <c:v>Month 4</c:v>
                  </c:pt>
                  <c:pt idx="3">
                    <c:v>Month 6</c:v>
                  </c:pt>
                  <c:pt idx="4">
                    <c:v>Month 9</c:v>
                  </c:pt>
                  <c:pt idx="5">
                    <c:v>Month 12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92</c:v>
                </c:pt>
                <c:pt idx="2">
                  <c:v>108</c:v>
                </c:pt>
                <c:pt idx="3">
                  <c:v>132</c:v>
                </c:pt>
                <c:pt idx="4">
                  <c:v>165</c:v>
                </c:pt>
                <c:pt idx="5">
                  <c:v>198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4444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Appreciate you taking the time today. I'll walk you through what we see, what's currently missing, and exactly how we can help you scale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masonry companies grow through referrals and word of mouth — which works, but it puts a ceiling on how much you can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97% of consumers search online for local services. 78% of mobile searches lead to a purchase within 24 hours. The demand is there — it just needs to be captured.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You're in a high-ticket business. One project can be $15–100K+. Growth comes from consistent, high-quality leads — not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now, the website exists — but it's not working as a system to bring in leads consistently.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growth right now depends on referrals — not predictable or scalable. A system changes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demand problem — it's simply that there's no system in place to capture that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Conservative: 2-3 extra projects at $25K = $50K/month = $600K+ in year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referrals alone: flat. With Stenth: $198K by Month 12. That's $111K additional per month. And it only grows from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founders, completely focused on growth systems. Aakash handles strategy and client relationships. Ansh handles the technical build and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Stenth, we don't just build websites or run ads — we build complete growth systems that bring in qualified leads consistently.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AAKASH: Play the video/brand demo here. This is exactly how we want to present MMG's story online — its craftsmanship, its legacy since 1994 — told visually.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Fix the foundation. A website that converts, clear messaging, strong portfolio. Everything built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2: Drive traffic. SEO builds long-term visibility. Ads bring instant leads. Local visibility makes MMG the obvious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3: Convert. Lead funnels, quote forms, follow-up systems — so every interested visitor becomes a real enquiry.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hiring and managing internally, we become that team. We coordinate with your people, learn your business, and operate as a genuine extension of MMG.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 cost. Just like this office builds trust and brings in clients — your online presence should do the same.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AAKASH: Pause here. Build anticipation. Everything we've talked about — it's not a concept. It already exists. Let me show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AAKASH: Open the browser. Navigate to modern-masonry-group.vercel.app — walk them through it. Let the work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makes sense, the next step is simple: sit down together and map out a strategy tailored entirely to MMG — the right system, the right timeline, what results look like in month 1, 3, and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GOLD_ACCENTS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44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589939705384-5185137a7f0f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89939705384-5185137a7f0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D1117"/>
          </a:solidFill>
          <a:ln/>
        </p:spPr>
      </p:sp>
      <p:pic>
        <p:nvPicPr>
          <p:cNvPr id="3" name="Image 0" descr="https://images.unsplash.com/photo-1589939705384-5185137a7f0f?q=80&amp;w=1920&amp;auto=format&amp;fit=cro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" y="0"/>
            <a:ext cx="9079992" cy="51435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C9A449"/>
            </a:solidFill>
            <a:prstDash val="solid"/>
          </a:ln>
        </p:spPr>
      </p:sp>
      <p:pic>
        <p:nvPicPr>
          <p:cNvPr id="5" name="Image 1" descr="https://modern-masonry-group.vercel.app/Logo-P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457200"/>
            <a:ext cx="1828800" cy="457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1143000"/>
            <a:ext cx="18288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DIGITAL STRATEGY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228600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Partnership Proposal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77240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pic>
        <p:nvPicPr>
          <p:cNvPr id="10" name="Image 2" descr="https://stenth.com/Stenth_Logo-removeb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72400" y="4663440"/>
            <a:ext cx="54864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Here's something most masonry businesses share: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"Most masonry companies grow through referrals... but that limits how much they can scale."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926080"/>
            <a:ext cx="109728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people are actively searching for your services every single day.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Are Already Searching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searches happening in Ontario — every single 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masonry contractor near 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brick installation Ontario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103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stone wall builders Toronto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VOLUME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masonry company commercial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VOLUME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2651760" cy="1097280"/>
          </a:xfrm>
          <a:prstGeom prst="rect">
            <a:avLst/>
          </a:prstGeom>
          <a:solidFill>
            <a:srgbClr val="7A6430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57600"/>
            <a:ext cx="45720" cy="109728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436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search online for local services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657600"/>
            <a:ext cx="2651760" cy="1097280"/>
          </a:xfrm>
          <a:prstGeom prst="rect">
            <a:avLst/>
          </a:prstGeom>
          <a:solidFill>
            <a:srgbClr val="7A6430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3657600"/>
            <a:ext cx="45720" cy="109728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42900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searches lead to a purchase within 24hrs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657600"/>
            <a:ext cx="2651760" cy="1097280"/>
          </a:xfrm>
          <a:prstGeom prst="rect">
            <a:avLst/>
          </a:prstGeom>
          <a:solidFill>
            <a:srgbClr val="7A6430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657600"/>
            <a:ext cx="45720" cy="109728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749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681%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6364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ROI for construction cos. using digital marketing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89939705384-5185137a7f0f?q=80&amp;w=1920&amp;auto=format&amp;fit=cro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50505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1994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High-Ticket Business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937760" y="7315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in a High-Ticket Business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93776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Project-based. High value. Every lead matters.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0" y="2194560"/>
            <a:ext cx="3840480" cy="73152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$15K–100K+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0292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project value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937760" y="3063240"/>
            <a:ext cx="3840480" cy="73152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deal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0292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the month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937760" y="3931920"/>
            <a:ext cx="3840480" cy="73152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1994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029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expertise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Presence Without Performance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3716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website that exists but doesn't convert is a missed opportunity every single day.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7315200" cy="68580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468880"/>
            <a:ext cx="45720" cy="6858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60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No clear call to 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788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land and don't know what to do next. No quote forms, no lead capture, no next step.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7315200" cy="68580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291840"/>
            <a:ext cx="45720" cy="6858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83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No structured service pages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6118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needs its own SEO-optimised page to rank on Google and convert intent into enquiries.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114800"/>
            <a:ext cx="7315200" cy="68580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14800"/>
            <a:ext cx="45720" cy="6858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2062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No lead capture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enquiry forms, no quote requests, no follow-up — visitors leave without a way to reach you.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Predictable Lead Pipeline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Referrals are great. But they're not scalable, predictable, or targetable.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474720" cy="274320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45720" cy="274320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23774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Growth relies entirely on referrals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consistent way to attract new clients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High-value clients are unreachable online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Revenue is unpredictable month to month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Growth plateaus — limited by word of mouth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474720" cy="274320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828800"/>
            <a:ext cx="45720" cy="27432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Predictable flow of qualified leads monthly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Targeting builders, developers &amp; commercial clients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Online presence works 24/7 even when you're not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Revenue compounds — not dependent on luck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Scalable growth with a system behind 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what's the real issue?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demand problem.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problem.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13716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searching. The demand is real. The system to capture it just doesn't exist yet.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— In Plain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3716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even a conservative improvement in lead flow looks like for MMG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286000" cy="13716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+2–3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projects per month (conservative)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286000" cy="13716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+$50K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7472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monthly revenue (avg project $25K)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2011680"/>
            <a:ext cx="2286000" cy="13716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+$600K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9436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revenue in year one alone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bring you even 2–3 additional qualified projects per month, at an average value of $25,000, that's an extra $50,000/month — or over $600,000 in additional revenue in year one.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that's the conservative estimate.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Growth Curve Looks Like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005840"/>
            <a:ext cx="13716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monthly revenue: Referral-only vs. With Stenth's system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914400" y="155448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+$111K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0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monthly revenue by Month 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2651760"/>
            <a:ext cx="2560320" cy="9144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+148%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over 12 months with system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17920" y="3657600"/>
            <a:ext cx="2560320" cy="9144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3749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681%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00800" y="4069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ROI for construction cos. (SEO)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enth.com/Stenth_Logo-remove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182880"/>
            <a:ext cx="50292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We Are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914400" y="1188720"/>
            <a:ext cx="13716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founders. One focus — growth systems that drive real revenue.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14400" y="1828800"/>
            <a:ext cx="3474720" cy="301752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Aakash Lakhataria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Growth Lead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client strategy, marketing systems, and pre-client relationships. Leads growth initiatives for Stenth's clients across Canada and Australia.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Specialises in building scalable systems that turn unknown businesses into recognised brands.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828800"/>
            <a:ext cx="3474720" cy="301752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37760" y="2468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Ansh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93776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Technical Lead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37760" y="31089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all technical delivery — from website builds to digital infrastructure and performance systems. Ensures every system we build actually converts.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37760" y="3931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Specialises in web development, conversion architecture, and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100" dirty="0"/>
          </a:p>
        </p:txBody>
      </p:sp>
      <p:pic>
        <p:nvPicPr>
          <p:cNvPr id="3" name="Image 0" descr="https://stenth.com/Stenth_Logo-remove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80160"/>
            <a:ext cx="13716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68880" y="1280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STENTH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stenth.com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2834640"/>
            <a:ext cx="13716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Strategy.  Marketing.  Growth.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just build websites.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build systems that consistently bring in qualified leads.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MMG'S STORY — TOLD ONLINE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6400800" cy="3108960"/>
          </a:xfrm>
          <a:prstGeom prst="rect">
            <a:avLst/>
          </a:prstGeom>
          <a:solidFill>
            <a:srgbClr val="08090C"/>
          </a:solidFill>
          <a:ln w="19050">
            <a:solidFill>
              <a:srgbClr val="C9A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[VIDEO PLAYS HERE]</a:t>
            </a:r>
            <a:endParaRPr lang="en-US" sz="1400" dirty="0"/>
          </a:p>
        </p:txBody>
      </p:sp>
      <p:pic>
        <p:nvPicPr>
          <p:cNvPr id="6" name="Image 0" descr="https://modern-masonry-group.vercel.app/Logo-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0" y="4114800"/>
            <a:ext cx="91440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how we want to portray Modern Masonry Group online — telling its story visually, with precision and prestige.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640080" cy="6400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C9A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First, we fix what's underneath everything else.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116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031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High-converting website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beautiful — built to turn visitors into enquiries. Clear structure, fast load, mobile-first design.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9260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175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Clear brand messaging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visitor should immediately know who MMG is, what you offer, and why they should call — within 5 seconds.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404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31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Strong portfolio showcase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2062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past work is your best sales tool. Presented to build instant trust with high-value clients.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640080" cy="6400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C9A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the right people to the right place — consistently.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116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031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Google SEO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local search. When someone searches masonry in Ontario, MMG appears first.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9260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175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Google Ads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visibility for high-intent searches. Target people ready to hire — not just browse.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404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31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Local visibility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2062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optimisation, local citations, map rankings — own your local market completely.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640080" cy="640080"/>
          </a:xfrm>
          <a:prstGeom prst="rect">
            <a:avLst/>
          </a:prstGeom>
          <a:solidFill>
            <a:srgbClr val="000000">
              <a:alpha val="0"/>
            </a:srgbClr>
          </a:solidFill>
          <a:ln w="25400">
            <a:solidFill>
              <a:srgbClr val="C9A4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029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37360" y="4572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means nothing if visitors don't become clients.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0116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031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Lead funnels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paths that take a visitor from "interested" to "I want a quote" — without friction.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9260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175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Quote 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Smart, fast enquiry forms designed to capture quality leads with the right information upfront.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7315200" cy="777240"/>
          </a:xfrm>
          <a:prstGeom prst="rect">
            <a:avLst/>
          </a:prstGeom>
          <a:solidFill>
            <a:srgbClr val="151E2A"/>
          </a:solidFill>
          <a:ln w="6350">
            <a:solidFill>
              <a:srgbClr val="7A6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40480"/>
            <a:ext cx="45720" cy="77724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319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Follow-up systems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2062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follow-ups so no lead falls through the cracks. Every enquiry gets a timely response.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Dedicated 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In-House Marketing Team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28016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9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serious, growing company has a dedicated marketing team.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834640"/>
            <a:ext cx="3474720" cy="182880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34640"/>
            <a:ext cx="45720" cy="1828800"/>
          </a:xfrm>
          <a:prstGeom prst="rect">
            <a:avLst/>
          </a:prstGeom>
          <a:solidFill>
            <a:srgbClr val="C84B3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4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WAY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internal staff.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cost. Slow to hire. Hard to manage.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834640"/>
            <a:ext cx="3474720" cy="182880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834640"/>
            <a:ext cx="45720" cy="18288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STENTH WAY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34747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become that team.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Integrated. Accountable. Focused on growth.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 Expense. An Investment.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45720" cy="13716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"Just like this office and showroom — the investment you made to build it — you did that because it creates an impression, builds trust, and brings in more business. Your online presence should do exactly the same thing. But at scale."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office &amp; showroom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in person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online presence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at scale — 24/7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Stenth as your partner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that presence into revenue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Now...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the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exciting part?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182880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everything we've talked about... it already exists.</a:t>
            </a:r>
            <a:endParaRPr lang="en-US" sz="1600" dirty="0"/>
          </a:p>
        </p:txBody>
      </p:sp>
      <p:pic>
        <p:nvPicPr>
          <p:cNvPr id="6" name="Image 0" descr="https://modern-masonry-group.vercel.app/Logo-PNG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rcRect l="0" r="0" t="0" b="0"/>
          <a:stretch/>
        </p:blipFill>
        <p:spPr>
          <a:xfrm>
            <a:off x="6400800" y="457200"/>
            <a:ext cx="228600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modern-masonry-group.vercel.app/Logo-P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731520"/>
            <a:ext cx="27432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0" kern="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Masonry Group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2286000" y="3840480"/>
            <a:ext cx="4572000" cy="54864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modern-masonry-group.vercel.app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9F9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this makes sense...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map out what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0EC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looks like for MMG.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1645920" cy="18288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solidFill>
            <a:srgbClr val="151E2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00400"/>
            <a:ext cx="45720" cy="1371600"/>
          </a:xfrm>
          <a:prstGeom prst="rect">
            <a:avLst/>
          </a:prstGeom>
          <a:solidFill>
            <a:srgbClr val="C9A44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3832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0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simple: we sit down together and map out a strategy specifically tailored to Modern Masonry Group — the right system, the right timeline, and what results look like in month 1, 3, and 6.</a:t>
            </a:r>
            <a:endParaRPr lang="en-US" sz="1400" dirty="0"/>
          </a:p>
        </p:txBody>
      </p:sp>
      <p:pic>
        <p:nvPicPr>
          <p:cNvPr id="8" name="Image 0" descr="https://stenth.com/Stenth_Logo-remove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03920" y="4663440"/>
            <a:ext cx="50292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44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2026-04-19T16:52:17Z</dcterms:created>
  <dcterms:modified xsi:type="dcterms:W3CDTF">2026-04-19T16:52:17Z</dcterms:modified>
</cp:coreProperties>
</file>