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Referral-Only</c:v>
                </c:pt>
              </c:strCache>
            </c:strRef>
          </c:tx>
          <c:spPr>
            <a:ln>
              <a:solidFill>
                <a:srgbClr val="546472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Now</c:v>
                </c:pt>
                <c:pt idx="1">
                  <c:v>Month 2</c:v>
                </c:pt>
                <c:pt idx="2">
                  <c:v>Month 4</c:v>
                </c:pt>
                <c:pt idx="3">
                  <c:v>Month 6</c:v>
                </c:pt>
                <c:pt idx="4">
                  <c:v>Month 9</c:v>
                </c:pt>
                <c:pt idx="5">
                  <c:v>Month 12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80</c:v>
                </c:pt>
                <c:pt idx="2">
                  <c:v>80</c:v>
                </c:pt>
                <c:pt idx="3">
                  <c:v>80</c:v>
                </c:pt>
                <c:pt idx="4">
                  <c:v>80</c:v>
                </c:pt>
                <c:pt idx="5">
                  <c:v>80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Stenth System</c:v>
                </c:pt>
              </c:strCache>
            </c:strRef>
          </c:tx>
          <c:spPr>
            <a:ln>
              <a:solidFill>
                <a:srgbClr val="C9A449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Now</c:v>
                </c:pt>
                <c:pt idx="1">
                  <c:v>Month 2</c:v>
                </c:pt>
                <c:pt idx="2">
                  <c:v>Month 4</c:v>
                </c:pt>
                <c:pt idx="3">
                  <c:v>Month 6</c:v>
                </c:pt>
                <c:pt idx="4">
                  <c:v>Month 9</c:v>
                </c:pt>
                <c:pt idx="5">
                  <c:v>Month 12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80</c:v>
                </c:pt>
                <c:pt idx="1">
                  <c:v>92</c:v>
                </c:pt>
                <c:pt idx="2">
                  <c:v>108</c:v>
                </c:pt>
                <c:pt idx="3">
                  <c:v>132</c:v>
                </c:pt>
                <c:pt idx="4">
                  <c:v>165</c:v>
                </c:pt>
                <c:pt idx="5">
                  <c:v>198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>
              <a:solidFill>
                <a:srgbClr val="A89F94"/>
              </a:solidFill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Appreciate you taking the time today. I'll walk you through what we see, what's currently missing, and exactly how we can help you scale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masonry companies grow through referrals and word of mouth — which works, but it puts a ceiling on how much you can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97% of consumers search online for local services. 78% of mobile searches lead to a purchase within 24 hours. The demand is there — it just needs to be captured.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You're in a high-ticket business. One project can be $15–100K+. Growth comes from consistent, high-quality leads — not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Right now, the website exists — but it's not working as a system to bring in leads consistently.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growth right now depends on referrals — not predictable or scalable. A system changes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isn't a demand problem — it's simply that there's no system in place to capture that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Conservative: 2–3 extra projects at $25K = $50K/month = $600K+ in year one. Strong scenario: nearly $2M additional annually.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referrals alone: flat. With Stenth: $198K by Month 12. That's $111K additional per month. And it only grows from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founders, completely focused on growth systems. Aakash handles strategy and client relationships. Ansh handles the technical build and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Stenth, we don't just build websites or run ads — we build complete growth systems that bring in qualified leads consistently.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AAKASH: Play the video/brand demo here. This is exactly how we want to present MMG's story online — its craftsmanship, its legacy since 1994 — told visually.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1: Fix the foundation. A website that converts, clear messaging, strong portfolio. Everything built to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2: Drive traffic. SEO builds long-term visibility. Ads bring instant leads. Local visibility makes MMG the obvious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3: Convert. Lead funnels, quote forms, follow-up systems — so every interested visitor becomes a real enquiry.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Instead of hiring and managing internally, we become that team. We coordinate with your people, learn your business, and operate as a genuine extension of MMG.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isn't a cost. Just like this office builds trust and brings in clients — your online presence should do the same.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AAKASH: Pause here. Build anticipation. Everything we've talked about — it's not a concept. It already exists. Let me show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AAKASH: Open the browser. Navigate to modern-masonry-group.vercel.app — walk them through it. Let the work speak.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this makes sense, the next step is simple: sit down together and map out a strategy tailored entirely to MMG — the right system, the right timeline, what results look like in month 1, 3, and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 w="12700">
            <a:solidFill>
              <a:srgbClr val="C9A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w="12700">
            <a:solidFill>
              <a:srgbClr val="C9A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mg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1828800" cy="130628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57200" y="1188720"/>
            <a:ext cx="1828800" cy="254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9A449"/>
                </a:solidFill>
                <a:latin typeface="Calibri"/>
              </a:defRPr>
            </a:pPr>
            <a:r>
              <a:t>GROWTH &amp; DIGITAL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0ECE4"/>
                </a:solidFill>
                <a:latin typeface="Georgia"/>
              </a:defRPr>
            </a:pPr>
            <a:r>
              <a:t>A Partnership Proposal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6634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A89F94"/>
                </a:solidFill>
                <a:latin typeface="Calibri"/>
              </a:defRPr>
            </a:pPr>
            <a:r>
              <a:t>Presented by</a:t>
            </a:r>
          </a:p>
        </p:txBody>
      </p:sp>
      <p:pic>
        <p:nvPicPr>
          <p:cNvPr id="12" name="Picture 11" descr="stent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4572000"/>
            <a:ext cx="502920" cy="503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A89F94"/>
                </a:solidFill>
                <a:latin typeface="Georgia"/>
              </a:defRPr>
            </a:pPr>
            <a:r>
              <a:t>Here's something most masonry businesses share: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0ECE4"/>
                </a:solidFill>
                <a:latin typeface="Georgia"/>
              </a:defRPr>
            </a:pPr>
            <a:r>
              <a:t>"Most masonry companies grow through referrals... but that limits how much they can scale."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291840"/>
            <a:ext cx="1097280" cy="254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9A449"/>
                </a:solidFill>
                <a:latin typeface="Calibri"/>
              </a:defRPr>
            </a:pPr>
            <a:r>
              <a:t>Meanwhile, people are actively searching for your services every single day.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0ECE4"/>
                </a:solidFill>
                <a:latin typeface="Georgia"/>
              </a:defRPr>
            </a:pPr>
            <a:r>
              <a:t>Customers Are Already Searching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371600" cy="254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A89F94"/>
                </a:solidFill>
                <a:latin typeface="Georgia"/>
              </a:defRPr>
            </a:pPr>
            <a:r>
              <a:t>Real searches happening in Ontario — every single day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3840480" cy="640080"/>
          </a:xfrm>
          <a:prstGeom prst="rect">
            <a:avLst/>
          </a:prstGeom>
          <a:solidFill>
            <a:srgbClr val="151E2A"/>
          </a:solidFill>
          <a:ln w="12700">
            <a:solidFill>
              <a:srgbClr val="7A6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CE4"/>
                </a:solidFill>
                <a:latin typeface="Calibri"/>
              </a:defRPr>
            </a:pPr>
            <a:r>
              <a:t>🔍 masonry contractor near 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945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9A449"/>
                </a:solidFill>
                <a:latin typeface="Calibri"/>
              </a:defRPr>
            </a:pPr>
            <a:r>
              <a:t>HIGH VOLUME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828800"/>
            <a:ext cx="3840480" cy="640080"/>
          </a:xfrm>
          <a:prstGeom prst="rect">
            <a:avLst/>
          </a:prstGeom>
          <a:solidFill>
            <a:srgbClr val="151E2A"/>
          </a:solidFill>
          <a:ln w="12700">
            <a:solidFill>
              <a:srgbClr val="7A6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920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CE4"/>
                </a:solidFill>
                <a:latin typeface="Calibri"/>
              </a:defRPr>
            </a:pPr>
            <a:r>
              <a:t>🔍 brick installation Ontario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945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9A449"/>
                </a:solidFill>
                <a:latin typeface="Calibri"/>
              </a:defRPr>
            </a:pPr>
            <a:r>
              <a:t>HIGH VOLUME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51760"/>
            <a:ext cx="3840480" cy="640080"/>
          </a:xfrm>
          <a:prstGeom prst="rect">
            <a:avLst/>
          </a:prstGeom>
          <a:solidFill>
            <a:srgbClr val="151E2A"/>
          </a:solidFill>
          <a:ln w="12700">
            <a:solidFill>
              <a:srgbClr val="7A6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74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CE4"/>
                </a:solidFill>
                <a:latin typeface="Calibri"/>
              </a:defRPr>
            </a:pPr>
            <a:r>
              <a:t>🔍 stone wall builders Toronto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9A449"/>
                </a:solidFill>
                <a:latin typeface="Calibri"/>
              </a:defRPr>
            </a:pPr>
            <a:r>
              <a:t>MED VOLUME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651760"/>
            <a:ext cx="3840480" cy="640080"/>
          </a:xfrm>
          <a:prstGeom prst="rect">
            <a:avLst/>
          </a:prstGeom>
          <a:solidFill>
            <a:srgbClr val="151E2A"/>
          </a:solidFill>
          <a:ln w="12700">
            <a:solidFill>
              <a:srgbClr val="7A6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274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CE4"/>
                </a:solidFill>
                <a:latin typeface="Calibri"/>
              </a:defRPr>
            </a:pPr>
            <a:r>
              <a:t>🔍 masonry company commercial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0175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9A449"/>
                </a:solidFill>
                <a:latin typeface="Calibri"/>
              </a:defRPr>
            </a:pPr>
            <a:r>
              <a:t>MED VOLUME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657600"/>
            <a:ext cx="2651760" cy="1097280"/>
          </a:xfrm>
          <a:prstGeom prst="rect">
            <a:avLst/>
          </a:prstGeom>
          <a:solidFill>
            <a:srgbClr val="7A6430"/>
          </a:solidFill>
          <a:ln w="12700">
            <a:solidFill>
              <a:srgbClr val="C9A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45720" cy="109728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490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C9A449"/>
                </a:solidFill>
                <a:latin typeface="Georgia"/>
              </a:defRPr>
            </a:pPr>
            <a:r>
              <a:t>97%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89F94"/>
                </a:solidFill>
                <a:latin typeface="Calibri"/>
              </a:defRPr>
            </a:pPr>
            <a:r>
              <a:t>consumers search online for local services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91840" y="3657600"/>
            <a:ext cx="2651760" cy="1097280"/>
          </a:xfrm>
          <a:prstGeom prst="rect">
            <a:avLst/>
          </a:prstGeom>
          <a:solidFill>
            <a:srgbClr val="7A6430"/>
          </a:solidFill>
          <a:ln w="12700">
            <a:solidFill>
              <a:srgbClr val="C9A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91840" y="3657600"/>
            <a:ext cx="45720" cy="109728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0" y="37490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C9A449"/>
                </a:solidFill>
                <a:latin typeface="Georgia"/>
              </a:defRPr>
            </a:pPr>
            <a:r>
              <a:t>78%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89F94"/>
                </a:solidFill>
                <a:latin typeface="Calibri"/>
              </a:defRPr>
            </a:pPr>
            <a:r>
              <a:t>mobile searches lead to a purchase within 24hrs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657600"/>
            <a:ext cx="2651760" cy="1097280"/>
          </a:xfrm>
          <a:prstGeom prst="rect">
            <a:avLst/>
          </a:prstGeom>
          <a:solidFill>
            <a:srgbClr val="7A6430"/>
          </a:solidFill>
          <a:ln w="12700">
            <a:solidFill>
              <a:srgbClr val="C9A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3657600"/>
            <a:ext cx="45720" cy="109728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7490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C9A449"/>
                </a:solidFill>
                <a:latin typeface="Georgia"/>
              </a:defRPr>
            </a:pPr>
            <a:r>
              <a:t>681%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297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89F94"/>
                </a:solidFill>
                <a:latin typeface="Calibri"/>
              </a:defRPr>
            </a:pPr>
            <a:r>
              <a:t>avg ROI for construction cos. using digital marketing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572000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82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89F94"/>
                </a:solidFill>
                <a:latin typeface="Calibri"/>
              </a:defRPr>
            </a:pPr>
            <a:r>
              <a:t>EST. 1994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0ECE4"/>
                </a:solidFill>
                <a:latin typeface="Georgia"/>
              </a:defRPr>
            </a:pPr>
            <a:r>
              <a:t>A High-Ticket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7315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 i="0">
                <a:solidFill>
                  <a:srgbClr val="F0ECE4"/>
                </a:solidFill>
                <a:latin typeface="Georgia"/>
              </a:defRPr>
            </a:pPr>
            <a:r>
              <a:t>You're in a High-Ticket Business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A89F94"/>
                </a:solidFill>
                <a:latin typeface="Georgia"/>
              </a:defRPr>
            </a:pPr>
            <a:r>
              <a:t>Project-based. High value. Every lead matters.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2286000"/>
            <a:ext cx="3840480" cy="731520"/>
          </a:xfrm>
          <a:prstGeom prst="rect">
            <a:avLst/>
          </a:prstGeom>
          <a:solidFill>
            <a:srgbClr val="15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C9A449"/>
                </a:solidFill>
                <a:latin typeface="Georgia"/>
              </a:defRPr>
            </a:pPr>
            <a:r>
              <a:t>$15K–100K+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743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A89F94"/>
                </a:solidFill>
                <a:latin typeface="Calibri"/>
              </a:defRPr>
            </a:pPr>
            <a:r>
              <a:t>typical project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3200400"/>
            <a:ext cx="3840480" cy="731520"/>
          </a:xfrm>
          <a:prstGeom prst="rect">
            <a:avLst/>
          </a:prstGeom>
          <a:solidFill>
            <a:srgbClr val="15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C9A449"/>
                </a:solidFill>
                <a:latin typeface="Georgia"/>
              </a:defRPr>
            </a:pPr>
            <a:r>
              <a:t>1 deal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657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A89F94"/>
                </a:solidFill>
                <a:latin typeface="Calibri"/>
              </a:defRPr>
            </a:pPr>
            <a:r>
              <a:t>can change the month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4114800"/>
            <a:ext cx="3840480" cy="731520"/>
          </a:xfrm>
          <a:prstGeom prst="rect">
            <a:avLst/>
          </a:prstGeom>
          <a:solidFill>
            <a:srgbClr val="15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C9A449"/>
                </a:solidFill>
                <a:latin typeface="Georgia"/>
              </a:defRPr>
            </a:pPr>
            <a:r>
              <a:t>Est. 1994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5720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A89F94"/>
                </a:solidFill>
                <a:latin typeface="Calibri"/>
              </a:defRPr>
            </a:pPr>
            <a:r>
              <a:t>decades of expertise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9A449"/>
                </a:solidFill>
                <a:latin typeface="Calibri"/>
              </a:defRPr>
            </a:pPr>
            <a:r>
              <a:t>GAP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F0ECE4"/>
                </a:solidFill>
                <a:latin typeface="Georgia"/>
              </a:defRPr>
            </a:pPr>
            <a:r>
              <a:t>Website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C9A449"/>
                </a:solidFill>
                <a:latin typeface="Georgia"/>
              </a:defRPr>
            </a:pPr>
            <a:r>
              <a:t>Presence Without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011680"/>
            <a:ext cx="1371600" cy="254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A89F94"/>
                </a:solidFill>
                <a:latin typeface="Georgia"/>
              </a:defRPr>
            </a:pPr>
            <a:r>
              <a:t>A website that exists but doesn't convert is a missed opportunity every single day.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560320"/>
            <a:ext cx="7315200" cy="640080"/>
          </a:xfrm>
          <a:prstGeom prst="rect">
            <a:avLst/>
          </a:prstGeom>
          <a:solidFill>
            <a:srgbClr val="151E2A"/>
          </a:solidFill>
          <a:ln w="12700">
            <a:solidFill>
              <a:srgbClr val="7A6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2560320"/>
            <a:ext cx="45720" cy="64008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517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9A449"/>
                </a:solidFill>
                <a:latin typeface="Calibri"/>
              </a:defRPr>
            </a:pPr>
            <a:r>
              <a:t>🌐 No clear call to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8036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A89F94"/>
                </a:solidFill>
                <a:latin typeface="Calibri"/>
              </a:defRPr>
            </a:pPr>
            <a:r>
              <a:t>Visitors land and don't know what to do next. No quote forms, no lead capture, no next step.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3383280"/>
            <a:ext cx="7315200" cy="640080"/>
          </a:xfrm>
          <a:prstGeom prst="rect">
            <a:avLst/>
          </a:prstGeom>
          <a:solidFill>
            <a:srgbClr val="151E2A"/>
          </a:solidFill>
          <a:ln w="12700">
            <a:solidFill>
              <a:srgbClr val="7A6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383280"/>
            <a:ext cx="45720" cy="64008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4747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9A449"/>
                </a:solidFill>
                <a:latin typeface="Calibri"/>
              </a:defRPr>
            </a:pPr>
            <a:r>
              <a:t>🔍 No structured service pages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70332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A89F94"/>
                </a:solidFill>
                <a:latin typeface="Calibri"/>
              </a:defRPr>
            </a:pPr>
            <a:r>
              <a:t>Each service needs its own SEO-optimised page to rank on Google and convert intent into enquiries.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4206240"/>
            <a:ext cx="7315200" cy="640080"/>
          </a:xfrm>
          <a:prstGeom prst="rect">
            <a:avLst/>
          </a:prstGeom>
          <a:solidFill>
            <a:srgbClr val="151E2A"/>
          </a:solidFill>
          <a:ln w="12700">
            <a:solidFill>
              <a:srgbClr val="7A6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4400" y="4206240"/>
            <a:ext cx="45720" cy="64008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2976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9A449"/>
                </a:solidFill>
                <a:latin typeface="Calibri"/>
              </a:defRPr>
            </a:pPr>
            <a:r>
              <a:t>📊 No lead capture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2628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A89F94"/>
                </a:solidFill>
                <a:latin typeface="Calibri"/>
              </a:defRPr>
            </a:pPr>
            <a:r>
              <a:t>No enquiry forms, no quote requests, no follow-up — visitors leave without a way to reach you.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9A449"/>
                </a:solidFill>
                <a:latin typeface="Calibri"/>
              </a:defRPr>
            </a:pPr>
            <a:r>
              <a:t>GAP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0ECE4"/>
                </a:solidFill>
                <a:latin typeface="Georgia"/>
              </a:defRPr>
            </a:pPr>
            <a:r>
              <a:t>No Predictable Lead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A89F94"/>
                </a:solidFill>
                <a:latin typeface="Georgia"/>
              </a:defRPr>
            </a:pPr>
            <a:r>
              <a:t>Referrals are great. But they're not scalable, predictable, or targetable.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3474720" cy="2743200"/>
          </a:xfrm>
          <a:prstGeom prst="rect">
            <a:avLst/>
          </a:prstGeom>
          <a:solidFill>
            <a:srgbClr val="15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45720" cy="2743200"/>
          </a:xfrm>
          <a:prstGeom prst="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84B31"/>
                </a:solidFill>
                <a:latin typeface="Calibri"/>
              </a:defRPr>
            </a:pPr>
            <a:r>
              <a:t>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0ECE4"/>
                </a:solidFill>
                <a:latin typeface="Calibri"/>
              </a:defRPr>
            </a:pPr>
            <a:r>
              <a:t>✗ Growth relies entirely on referrals</a:t>
            </a:r>
            <a:br/>
            <a:r>
              <a:t>✗ No consistent way to attract new clients</a:t>
            </a:r>
            <a:br/>
            <a:r>
              <a:t>✗ High-value clients are unreachable online</a:t>
            </a:r>
            <a:br/>
            <a:r>
              <a:t>✗ Revenue is unpredictable month to month</a:t>
            </a:r>
            <a:br/>
            <a:r>
              <a:t>✗ Growth plateaus — limited by word of mouth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828800"/>
            <a:ext cx="3474720" cy="2743200"/>
          </a:xfrm>
          <a:prstGeom prst="rect">
            <a:avLst/>
          </a:prstGeom>
          <a:solidFill>
            <a:srgbClr val="15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828800"/>
            <a:ext cx="45720" cy="27432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C9A449"/>
                </a:solidFill>
                <a:latin typeface="Calibri"/>
              </a:defRPr>
            </a:pPr>
            <a:r>
              <a:t>WITH A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37744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F0ECE4"/>
                </a:solidFill>
                <a:latin typeface="Calibri"/>
              </a:defRPr>
            </a:pPr>
            <a:r>
              <a:t>✓ Predictable flow of qualified leads monthly</a:t>
            </a:r>
            <a:br/>
            <a:r>
              <a:t>✓ Targeting builders, developers &amp; commercial clients</a:t>
            </a:r>
            <a:br/>
            <a:r>
              <a:t>✓ Online presence works 24/7 even when you're not</a:t>
            </a:r>
            <a:br/>
            <a:r>
              <a:t>✓ Revenue compounds — not dependent on luck</a:t>
            </a:r>
            <a:br/>
            <a:r>
              <a:t>✓ Scalable growth with a system behind 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A89F94"/>
                </a:solidFill>
                <a:latin typeface="Georgia"/>
              </a:defRPr>
            </a:pPr>
            <a:r>
              <a:t>So what's the real issue?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F0ECE4"/>
                </a:solidFill>
                <a:latin typeface="Georgia"/>
              </a:defRPr>
            </a:pPr>
            <a:r>
              <a:t>Not a demand problem.</a:t>
            </a:r>
            <a:br/>
            <a:r>
              <a:t>A system problem.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383280"/>
            <a:ext cx="1371600" cy="254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9A449"/>
                </a:solidFill>
                <a:latin typeface="Calibri"/>
              </a:defRPr>
            </a:pPr>
            <a:r>
              <a:t>People are searching. The demand is real. The system to capture it just doesn't exist yet.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0ECE4"/>
                </a:solidFill>
                <a:latin typeface="Georgia"/>
              </a:defRPr>
            </a:pPr>
            <a:r>
              <a:t>The Opportunity — In Plain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1371600" cy="254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A89F94"/>
                </a:solidFill>
                <a:latin typeface="Georgia"/>
              </a:defRPr>
            </a:pPr>
            <a:r>
              <a:t>What even a conservative improvement in lead flow looks like for MMG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828800"/>
            <a:ext cx="2286000" cy="1371600"/>
          </a:xfrm>
          <a:prstGeom prst="rect">
            <a:avLst/>
          </a:prstGeom>
          <a:solidFill>
            <a:srgbClr val="151E2A"/>
          </a:solidFill>
          <a:ln w="12700">
            <a:solidFill>
              <a:srgbClr val="C9A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 i="0">
                <a:solidFill>
                  <a:srgbClr val="C9A449"/>
                </a:solidFill>
                <a:latin typeface="Georgia"/>
              </a:defRPr>
            </a:pPr>
            <a:r>
              <a:t>+2–3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51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A89F94"/>
                </a:solidFill>
                <a:latin typeface="Calibri"/>
              </a:defRPr>
            </a:pPr>
            <a:r>
              <a:t>extra projects per month (conservative)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828800"/>
            <a:ext cx="2286000" cy="1371600"/>
          </a:xfrm>
          <a:prstGeom prst="rect">
            <a:avLst/>
          </a:prstGeom>
          <a:solidFill>
            <a:srgbClr val="151E2A"/>
          </a:solidFill>
          <a:ln w="12700">
            <a:solidFill>
              <a:srgbClr val="C9A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20116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 i="0">
                <a:solidFill>
                  <a:srgbClr val="C9A449"/>
                </a:solidFill>
                <a:latin typeface="Georgia"/>
              </a:defRPr>
            </a:pPr>
            <a:r>
              <a:t>+$50K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651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A89F94"/>
                </a:solidFill>
                <a:latin typeface="Calibri"/>
              </a:defRPr>
            </a:pPr>
            <a:r>
              <a:t>additional monthly revenue (avg project $25K)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828800"/>
            <a:ext cx="2286000" cy="1371600"/>
          </a:xfrm>
          <a:prstGeom prst="rect">
            <a:avLst/>
          </a:prstGeom>
          <a:solidFill>
            <a:srgbClr val="151E2A"/>
          </a:solidFill>
          <a:ln w="12700">
            <a:solidFill>
              <a:srgbClr val="C9A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20116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 i="0">
                <a:solidFill>
                  <a:srgbClr val="C9A449"/>
                </a:solidFill>
                <a:latin typeface="Georgia"/>
              </a:defRPr>
            </a:pPr>
            <a:r>
              <a:t>+$600K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51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A89F94"/>
                </a:solidFill>
                <a:latin typeface="Calibri"/>
              </a:defRPr>
            </a:pPr>
            <a:r>
              <a:t>additional revenue in year one alone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CE4"/>
                </a:solidFill>
                <a:latin typeface="Calibri"/>
              </a:defRPr>
            </a:pPr>
            <a:r>
              <a:t>If we bring you even 2–3 additional qualified projects per month, at an average value of $25,000, that's an extra $50,000/month — or over $600,000 in additional revenue in year 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C9A449"/>
                </a:solidFill>
                <a:latin typeface="Georgia"/>
              </a:defRPr>
            </a:pPr>
            <a:r>
              <a:t>And that's the conservative estimate.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0ECE4"/>
                </a:solidFill>
                <a:latin typeface="Georgia"/>
              </a:defRPr>
            </a:pPr>
            <a:r>
              <a:t>What the Growth Curve Looks 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05840"/>
            <a:ext cx="1371600" cy="254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1">
                <a:solidFill>
                  <a:srgbClr val="A89F94"/>
                </a:solidFill>
                <a:latin typeface="Georgia"/>
              </a:defRPr>
            </a:pPr>
            <a:r>
              <a:t>Projected monthly revenue: Referral-only vs. With Stenth's 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645920"/>
            <a:ext cx="5029200" cy="3200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1005840" y="1737360"/>
          <a:ext cx="484632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217920" y="1645920"/>
            <a:ext cx="2560320" cy="9144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373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0D1117"/>
                </a:solidFill>
                <a:latin typeface="Georgia"/>
              </a:defRPr>
            </a:pPr>
            <a:r>
              <a:t>+$111K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503200"/>
                </a:solidFill>
                <a:latin typeface="Calibri"/>
              </a:defRPr>
            </a:pPr>
            <a:r>
              <a:t>additional monthly revenue by Month 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743200"/>
            <a:ext cx="2560320" cy="914400"/>
          </a:xfrm>
          <a:prstGeom prst="rect">
            <a:avLst/>
          </a:prstGeom>
          <a:solidFill>
            <a:srgbClr val="151E2A"/>
          </a:solidFill>
          <a:ln w="12700">
            <a:solidFill>
              <a:srgbClr val="C9A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8346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C9A449"/>
                </a:solidFill>
                <a:latin typeface="Georgia"/>
              </a:defRPr>
            </a:pPr>
            <a:r>
              <a:t>+148%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89F94"/>
                </a:solidFill>
                <a:latin typeface="Calibri"/>
              </a:defRPr>
            </a:pPr>
            <a:r>
              <a:t>revenue growth over 12 months with system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840480"/>
            <a:ext cx="2560320" cy="914400"/>
          </a:xfrm>
          <a:prstGeom prst="rect">
            <a:avLst/>
          </a:prstGeom>
          <a:solidFill>
            <a:srgbClr val="151E2A"/>
          </a:solidFill>
          <a:ln w="12700">
            <a:solidFill>
              <a:srgbClr val="C9A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931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C9A449"/>
                </a:solidFill>
                <a:latin typeface="Georgia"/>
              </a:defRPr>
            </a:pPr>
            <a:r>
              <a:t>681%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976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A89F94"/>
                </a:solidFill>
                <a:latin typeface="Calibri"/>
              </a:defRPr>
            </a:pPr>
            <a:r>
              <a:t>avg ROI for construction cos. (SEO)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en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82880"/>
            <a:ext cx="502920" cy="5039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0ECE4"/>
                </a:solidFill>
                <a:latin typeface="Georgia"/>
              </a:defRPr>
            </a:pPr>
            <a:r>
              <a:t>Who We 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097280"/>
            <a:ext cx="1371600" cy="254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80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A89F94"/>
                </a:solidFill>
                <a:latin typeface="Georgia"/>
              </a:defRPr>
            </a:pPr>
            <a:r>
              <a:t>Two founders. One focus — growth systems that drive real revenue.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828800"/>
            <a:ext cx="3474720" cy="2926080"/>
          </a:xfrm>
          <a:prstGeom prst="rect">
            <a:avLst/>
          </a:prstGeom>
          <a:solidFill>
            <a:srgbClr val="151E2A"/>
          </a:solidFill>
          <a:ln w="12700">
            <a:solidFill>
              <a:srgbClr val="C9A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C9A449"/>
                </a:solidFill>
                <a:latin typeface="Calibri"/>
              </a:defRPr>
            </a:pPr>
            <a:r>
              <a:t>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60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0ECE4"/>
                </a:solidFill>
                <a:latin typeface="Georgia"/>
              </a:defRPr>
            </a:pPr>
            <a:r>
              <a:t>Aakash Lakhataria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9A449"/>
                </a:solidFill>
                <a:latin typeface="Calibri"/>
              </a:defRPr>
            </a:pPr>
            <a:r>
              <a:t>Co-Founder &amp; Growth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91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A89F94"/>
                </a:solidFill>
                <a:latin typeface="Calibri"/>
              </a:defRPr>
            </a:pPr>
            <a:r>
              <a:t>Drives client strategy, marketing systems, and pre-client relationships. Leads growth initiatives for Stenth's clients across Canada and Australia.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023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A89F94"/>
                </a:solidFill>
                <a:latin typeface="Calibri"/>
              </a:defRPr>
            </a:pPr>
            <a:r>
              <a:t>Specialises in building scalable systems that turn unknown businesses into recognised brands.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828800"/>
            <a:ext cx="3474720" cy="2926080"/>
          </a:xfrm>
          <a:prstGeom prst="rect">
            <a:avLst/>
          </a:prstGeom>
          <a:solidFill>
            <a:srgbClr val="151E2A"/>
          </a:solidFill>
          <a:ln w="12700">
            <a:solidFill>
              <a:srgbClr val="C9A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6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0">
                <a:solidFill>
                  <a:srgbClr val="C9A449"/>
                </a:solidFill>
                <a:latin typeface="Calibri"/>
              </a:defRPr>
            </a:pPr>
            <a:r>
              <a:t>⚙️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560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F0ECE4"/>
                </a:solidFill>
                <a:latin typeface="Georgia"/>
              </a:defRPr>
            </a:pPr>
            <a:r>
              <a:t>Ansh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9260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9A449"/>
                </a:solidFill>
                <a:latin typeface="Calibri"/>
              </a:defRPr>
            </a:pPr>
            <a:r>
              <a:t>Co-Founder &amp; Technical Lead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329184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A89F94"/>
                </a:solidFill>
                <a:latin typeface="Calibri"/>
              </a:defRPr>
            </a:pPr>
            <a:r>
              <a:t>Oversees all technical delivery — from website builds to digital infrastructure and performance systems. Ensures every system we build actually converts.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40233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A89F94"/>
                </a:solidFill>
                <a:latin typeface="Calibri"/>
              </a:defRPr>
            </a:pPr>
            <a:r>
              <a:t>Specialises in web development, conversion architecture, and analytics.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 i="0">
                <a:solidFill>
                  <a:srgbClr val="C9A449"/>
                </a:solidFill>
                <a:latin typeface="Calibri"/>
              </a:defRPr>
            </a:pPr>
            <a:r>
              <a:t>INTRODUCING</a:t>
            </a:r>
          </a:p>
        </p:txBody>
      </p:sp>
      <p:pic>
        <p:nvPicPr>
          <p:cNvPr id="5" name="Picture 4" descr="sten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280160"/>
            <a:ext cx="1371600" cy="13743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68880" y="128016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F0ECE4"/>
                </a:solidFill>
                <a:latin typeface="Georgia"/>
              </a:defRPr>
            </a:pPr>
            <a:r>
              <a:t>STENTH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A89F94"/>
                </a:solidFill>
                <a:latin typeface="Calibri"/>
              </a:defRPr>
            </a:pPr>
            <a:r>
              <a:t>stenth.com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743200"/>
            <a:ext cx="1371600" cy="254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0ECE4"/>
                </a:solidFill>
                <a:latin typeface="Calibri"/>
              </a:defRPr>
            </a:pPr>
            <a:r>
              <a:t>Strategy.  Marketing.  Growth.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C9A449"/>
                </a:solidFill>
                <a:latin typeface="Georgia"/>
              </a:defRPr>
            </a:pPr>
            <a:r>
              <a:t>We don't just build websites.\nWe build systems that consistently bring in qualified leads.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C9A449"/>
                </a:solidFill>
                <a:latin typeface="Calibri"/>
              </a:defRPr>
            </a:pPr>
            <a:r>
              <a:t>MMG'S STORY — TOLD ONLINE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914400"/>
            <a:ext cx="6400800" cy="3108960"/>
          </a:xfrm>
          <a:prstGeom prst="rect">
            <a:avLst/>
          </a:prstGeom>
          <a:solidFill>
            <a:srgbClr val="08090C"/>
          </a:solidFill>
          <a:ln w="19050">
            <a:solidFill>
              <a:srgbClr val="C9A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2011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C9A449"/>
                </a:solidFill>
                <a:latin typeface="Calibri"/>
              </a:defRPr>
            </a:pPr>
            <a:r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5603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1">
                <a:solidFill>
                  <a:srgbClr val="A89F94"/>
                </a:solidFill>
                <a:latin typeface="Calibri"/>
              </a:defRPr>
            </a:pPr>
            <a:r>
              <a:t>[VIDEO PLAYS HERE]</a:t>
            </a:r>
          </a:p>
        </p:txBody>
      </p:sp>
      <p:pic>
        <p:nvPicPr>
          <p:cNvPr id="9" name="Picture 8" descr="mm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4114800"/>
            <a:ext cx="1828800" cy="130628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1">
                <a:solidFill>
                  <a:srgbClr val="A89F94"/>
                </a:solidFill>
                <a:latin typeface="Georgia"/>
              </a:defRPr>
            </a:pPr>
            <a:r>
              <a:t>This is how we want to portray Modern Masonry Group online — telling its story visually, with precision and prestige.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731520" cy="731520"/>
          </a:xfrm>
          <a:prstGeom prst="rect">
            <a:avLst/>
          </a:prstGeom>
          <a:noFill/>
          <a:ln w="25400">
            <a:solidFill>
              <a:srgbClr val="C9A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C9A449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0ECE4"/>
                </a:solidFill>
                <a:latin typeface="Georgia"/>
              </a:defRPr>
            </a:pPr>
            <a:r>
              <a:t>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A89F94"/>
                </a:solidFill>
                <a:latin typeface="Georgia"/>
              </a:defRPr>
            </a:pPr>
            <a:r>
              <a:t>First, we fix what's underneath everything else.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solidFill>
            <a:srgbClr val="151E2A"/>
          </a:solidFill>
          <a:ln w="12700">
            <a:solidFill>
              <a:srgbClr val="7A6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011680"/>
            <a:ext cx="45720" cy="73152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031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9A449"/>
                </a:solidFill>
                <a:latin typeface="Calibri"/>
              </a:defRPr>
            </a:pPr>
            <a:r>
              <a:t>🌐 High-converting website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317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A89F94"/>
                </a:solidFill>
                <a:latin typeface="Calibri"/>
              </a:defRPr>
            </a:pPr>
            <a:r>
              <a:t>Not just beautiful — built to turn visitors into enquiries. Clear structure, fast load, mobile-first design.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solidFill>
            <a:srgbClr val="151E2A"/>
          </a:solidFill>
          <a:ln w="12700">
            <a:solidFill>
              <a:srgbClr val="7A6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926080"/>
            <a:ext cx="45720" cy="73152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0175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9A449"/>
                </a:solidFill>
                <a:latin typeface="Calibri"/>
              </a:defRPr>
            </a:pPr>
            <a:r>
              <a:t>🎯 Clear brand messaging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461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A89F94"/>
                </a:solidFill>
                <a:latin typeface="Calibri"/>
              </a:defRPr>
            </a:pPr>
            <a:r>
              <a:t>Every visitor should immediately know who MMG is, what you offer, and why they should call — within 5 seconds.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solidFill>
            <a:srgbClr val="151E2A"/>
          </a:solidFill>
          <a:ln w="12700">
            <a:solidFill>
              <a:srgbClr val="7A6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840480"/>
            <a:ext cx="45720" cy="73152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9319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9A449"/>
                </a:solidFill>
                <a:latin typeface="Calibri"/>
              </a:defRPr>
            </a:pPr>
            <a:r>
              <a:t>🏢 Strong portfolio showcase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1605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A89F94"/>
                </a:solidFill>
                <a:latin typeface="Calibri"/>
              </a:defRPr>
            </a:pPr>
            <a:r>
              <a:t>Your past work is your best sales tool. Presented to build instant trust with high-value clients.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731520" cy="731520"/>
          </a:xfrm>
          <a:prstGeom prst="rect">
            <a:avLst/>
          </a:prstGeom>
          <a:noFill/>
          <a:ln w="25400">
            <a:solidFill>
              <a:srgbClr val="C9A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C9A449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0ECE4"/>
                </a:solidFill>
                <a:latin typeface="Georgia"/>
              </a:defRPr>
            </a:pPr>
            <a:r>
              <a:t>Traffic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A89F94"/>
                </a:solidFill>
                <a:latin typeface="Georgia"/>
              </a:defRPr>
            </a:pPr>
            <a:r>
              <a:t>Bring the right people to the right place — consistently.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solidFill>
            <a:srgbClr val="151E2A"/>
          </a:solidFill>
          <a:ln w="12700">
            <a:solidFill>
              <a:srgbClr val="7A6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011680"/>
            <a:ext cx="45720" cy="73152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031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9A449"/>
                </a:solidFill>
                <a:latin typeface="Calibri"/>
              </a:defRPr>
            </a:pPr>
            <a:r>
              <a:t>🔍 Google SEO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317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A89F94"/>
                </a:solidFill>
                <a:latin typeface="Calibri"/>
              </a:defRPr>
            </a:pPr>
            <a:r>
              <a:t>Dominate local search. When someone searches masonry in Ontario, MMG appears first.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solidFill>
            <a:srgbClr val="151E2A"/>
          </a:solidFill>
          <a:ln w="12700">
            <a:solidFill>
              <a:srgbClr val="7A6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926080"/>
            <a:ext cx="45720" cy="73152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0175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9A449"/>
                </a:solidFill>
                <a:latin typeface="Calibri"/>
              </a:defRPr>
            </a:pPr>
            <a:r>
              <a:t>📣 Google 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461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A89F94"/>
                </a:solidFill>
                <a:latin typeface="Calibri"/>
              </a:defRPr>
            </a:pPr>
            <a:r>
              <a:t>Instant visibility for high-intent searches. Target people ready to hire — not just browse.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solidFill>
            <a:srgbClr val="151E2A"/>
          </a:solidFill>
          <a:ln w="12700">
            <a:solidFill>
              <a:srgbClr val="7A6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840480"/>
            <a:ext cx="45720" cy="73152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9319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9A449"/>
                </a:solidFill>
                <a:latin typeface="Calibri"/>
              </a:defRPr>
            </a:pPr>
            <a:r>
              <a:t>🌐 Local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1605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A89F94"/>
                </a:solidFill>
                <a:latin typeface="Calibri"/>
              </a:defRPr>
            </a:pPr>
            <a:r>
              <a:t>Google Business optimisation, local citations, map rankings — own your local market completely.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457200"/>
            <a:ext cx="731520" cy="731520"/>
          </a:xfrm>
          <a:prstGeom prst="rect">
            <a:avLst/>
          </a:prstGeom>
          <a:noFill/>
          <a:ln w="25400">
            <a:solidFill>
              <a:srgbClr val="C9A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943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C9A449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02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0ECE4"/>
                </a:solidFill>
                <a:latin typeface="Georgia"/>
              </a:defRPr>
            </a:pPr>
            <a:r>
              <a:t>Conversion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A89F94"/>
                </a:solidFill>
                <a:latin typeface="Georgia"/>
              </a:defRPr>
            </a:pPr>
            <a:r>
              <a:t>Traffic means nothing if visitors don't become clients.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7315200" cy="731520"/>
          </a:xfrm>
          <a:prstGeom prst="rect">
            <a:avLst/>
          </a:prstGeom>
          <a:solidFill>
            <a:srgbClr val="151E2A"/>
          </a:solidFill>
          <a:ln w="12700">
            <a:solidFill>
              <a:srgbClr val="7A6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2011680"/>
            <a:ext cx="45720" cy="73152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031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9A449"/>
                </a:solidFill>
                <a:latin typeface="Calibri"/>
              </a:defRPr>
            </a:pPr>
            <a:r>
              <a:t>💰 Lead funnels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3317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A89F94"/>
                </a:solidFill>
                <a:latin typeface="Calibri"/>
              </a:defRPr>
            </a:pPr>
            <a:r>
              <a:t>Guided paths that take a visitor from "interested" to "I want a quote" — without friction.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solidFill>
            <a:srgbClr val="151E2A"/>
          </a:solidFill>
          <a:ln w="12700">
            <a:solidFill>
              <a:srgbClr val="7A6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2926080"/>
            <a:ext cx="45720" cy="73152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0175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9A449"/>
                </a:solidFill>
                <a:latin typeface="Calibri"/>
              </a:defRPr>
            </a:pPr>
            <a:r>
              <a:t>🎯 Quote forms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2461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A89F94"/>
                </a:solidFill>
                <a:latin typeface="Calibri"/>
              </a:defRPr>
            </a:pPr>
            <a:r>
              <a:t>Smart, fast enquiry forms designed to capture quality leads with the right information upfront.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840480"/>
            <a:ext cx="7315200" cy="731520"/>
          </a:xfrm>
          <a:prstGeom prst="rect">
            <a:avLst/>
          </a:prstGeom>
          <a:solidFill>
            <a:srgbClr val="151E2A"/>
          </a:solidFill>
          <a:ln w="12700">
            <a:solidFill>
              <a:srgbClr val="7A6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840480"/>
            <a:ext cx="45720" cy="73152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9319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C9A449"/>
                </a:solidFill>
                <a:latin typeface="Calibri"/>
              </a:defRPr>
            </a:pPr>
            <a:r>
              <a:t>📊 Follow-up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16052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A89F94"/>
                </a:solidFill>
                <a:latin typeface="Calibri"/>
              </a:defRPr>
            </a:pPr>
            <a:r>
              <a:t>Automated follow-ups so no lead falls through the cracks. Every enquiry gets a timely response.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0ECE4"/>
                </a:solidFill>
                <a:latin typeface="Georgia"/>
              </a:defRPr>
            </a:pPr>
            <a:r>
              <a:t>Your Dedicated </a:t>
            </a:r>
            <a:br/>
            <a:r>
              <a:t>In-House Marketing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737360"/>
            <a:ext cx="1280160" cy="254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A89F94"/>
                </a:solidFill>
                <a:latin typeface="Calibri"/>
              </a:defRPr>
            </a:pPr>
            <a:r>
              <a:t>Every serious, growing company has a dedicated marketing team.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743200"/>
            <a:ext cx="3474720" cy="1828800"/>
          </a:xfrm>
          <a:prstGeom prst="rect">
            <a:avLst/>
          </a:prstGeom>
          <a:solidFill>
            <a:srgbClr val="15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743200"/>
            <a:ext cx="45720" cy="1828800"/>
          </a:xfrm>
          <a:prstGeom prst="rect">
            <a:avLst/>
          </a:prstGeom>
          <a:solidFill>
            <a:srgbClr val="C84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84B31"/>
                </a:solidFill>
                <a:latin typeface="Calibri"/>
              </a:defRPr>
            </a:pPr>
            <a:r>
              <a:t>THE TRADITIONAL 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CE4"/>
                </a:solidFill>
                <a:latin typeface="Calibri"/>
              </a:defRPr>
            </a:pPr>
            <a:r>
              <a:t>Hire internal staff.</a:t>
            </a:r>
            <a:br/>
            <a:r>
              <a:t>High cost. Slow to hire. Hard to manage.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2743200"/>
            <a:ext cx="3474720" cy="1828800"/>
          </a:xfrm>
          <a:prstGeom prst="rect">
            <a:avLst/>
          </a:prstGeom>
          <a:solidFill>
            <a:srgbClr val="15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2743200"/>
            <a:ext cx="45720" cy="18288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29260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C9A449"/>
                </a:solidFill>
                <a:latin typeface="Calibri"/>
              </a:defRPr>
            </a:pPr>
            <a:r>
              <a:t>THE STENTH 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329184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0ECE4"/>
                </a:solidFill>
                <a:latin typeface="Calibri"/>
              </a:defRPr>
            </a:pPr>
            <a:r>
              <a:t>We become that team.</a:t>
            </a:r>
            <a:br/>
            <a:r>
              <a:t>Integrated. Accountable. Focused on growth.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0ECE4"/>
                </a:solidFill>
                <a:latin typeface="Georgia"/>
              </a:defRPr>
            </a:pPr>
            <a:r>
              <a:t>Not an Expense. An Investment.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solidFill>
            <a:srgbClr val="15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371600"/>
            <a:ext cx="45720" cy="13716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6949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F0ECE4"/>
                </a:solidFill>
                <a:latin typeface="Georgia"/>
              </a:defRPr>
            </a:pPr>
            <a:r>
              <a:t>"Just like this office and showroom — the investment you made to build it — you did that because it creates an impression, builds trust, and brings in more business. Your online presence should do exactly the same thing. But at scale."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0ECE4"/>
                </a:solidFill>
                <a:latin typeface="Calibri"/>
              </a:defRPr>
            </a:pPr>
            <a:r>
              <a:t>A great office &amp; showroom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32004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9A44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200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9A449"/>
                </a:solidFill>
                <a:latin typeface="Calibri"/>
              </a:defRPr>
            </a:pPr>
            <a:r>
              <a:t>Builds trust in person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0ECE4"/>
                </a:solidFill>
                <a:latin typeface="Calibri"/>
              </a:defRPr>
            </a:pPr>
            <a:r>
              <a:t>A great online presence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657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9A44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9A449"/>
                </a:solidFill>
                <a:latin typeface="Calibri"/>
              </a:defRPr>
            </a:pPr>
            <a:r>
              <a:t>Builds trust at scale — 24/7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148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0ECE4"/>
                </a:solidFill>
                <a:latin typeface="Calibri"/>
              </a:defRPr>
            </a:pPr>
            <a:r>
              <a:t>Stenth as your partner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114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9A44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114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C9A449"/>
                </a:solidFill>
                <a:latin typeface="Calibri"/>
              </a:defRPr>
            </a:pPr>
            <a:r>
              <a:t>Turns that presence into revenue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14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1">
                <a:solidFill>
                  <a:srgbClr val="A89F94"/>
                </a:solidFill>
                <a:latin typeface="Georgia"/>
              </a:defRPr>
            </a:pPr>
            <a:r>
              <a:t>Now...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 i="0">
                <a:solidFill>
                  <a:srgbClr val="F0ECE4"/>
                </a:solidFill>
                <a:latin typeface="Georgia"/>
              </a:defRPr>
            </a:pPr>
            <a:r>
              <a:t>Ready for the</a:t>
            </a:r>
            <a:br/>
            <a:r>
              <a:t>exciting part?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383280"/>
            <a:ext cx="1828800" cy="254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C9A449"/>
                </a:solidFill>
                <a:latin typeface="Calibri"/>
              </a:defRPr>
            </a:pPr>
            <a:r>
              <a:t>Because everything we've talked about... it already exists.</a:t>
            </a:r>
          </a:p>
        </p:txBody>
      </p:sp>
      <p:pic>
        <p:nvPicPr>
          <p:cNvPr id="9" name="Picture 8" descr="mm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7200"/>
            <a:ext cx="2743200" cy="195942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mm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731520"/>
            <a:ext cx="2743200" cy="1959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2377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C9A449"/>
                </a:solidFill>
                <a:latin typeface="Calibri"/>
              </a:defRPr>
            </a:pPr>
            <a:r>
              <a:t>THE NEW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0ECE4"/>
                </a:solidFill>
                <a:latin typeface="Georgia"/>
              </a:defRPr>
            </a:pPr>
            <a:r>
              <a:t>Modern Masonry Group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3657600"/>
            <a:ext cx="4572000" cy="548640"/>
          </a:xfrm>
          <a:prstGeom prst="rect">
            <a:avLst/>
          </a:prstGeom>
          <a:solidFill>
            <a:srgbClr val="151E2A"/>
          </a:solidFill>
          <a:ln w="12700">
            <a:solidFill>
              <a:srgbClr val="C9A4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0" y="3794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C9A449"/>
                </a:solidFill>
                <a:latin typeface="Calibri"/>
              </a:defRPr>
            </a:pPr>
            <a:r>
              <a:t>modern-masonry-group.vercel.app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1">
                <a:solidFill>
                  <a:srgbClr val="A89F94"/>
                </a:solidFill>
                <a:latin typeface="Georgia"/>
              </a:defRPr>
            </a:pPr>
            <a:r>
              <a:t>If this makes sense...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0ECE4"/>
                </a:solidFill>
                <a:latin typeface="Georgia"/>
              </a:defRPr>
            </a:pPr>
            <a:r>
              <a:t>Let's map out what</a:t>
            </a:r>
            <a:br/>
            <a:r>
              <a:t>this looks like for MMG.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651760"/>
            <a:ext cx="1645920" cy="254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3200400"/>
            <a:ext cx="7315200" cy="1371600"/>
          </a:xfrm>
          <a:prstGeom prst="rect">
            <a:avLst/>
          </a:prstGeom>
          <a:solidFill>
            <a:srgbClr val="151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3200400"/>
            <a:ext cx="45720" cy="137160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F0ECE4"/>
                </a:solidFill>
                <a:latin typeface="Calibri"/>
              </a:defRPr>
            </a:pPr>
            <a:r>
              <a:t>The next step is simple: we sit down together and map out a strategy specifically tailored to Modern Masonry Group — the right system, the right timeline, and what results look like in month 1, 3, and 6.</a:t>
            </a:r>
          </a:p>
        </p:txBody>
      </p:sp>
      <p:pic>
        <p:nvPicPr>
          <p:cNvPr id="10" name="Picture 9" descr="stenth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4572000"/>
            <a:ext cx="502920" cy="503928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C9A4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